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3253F"/>
                </a:solidFill>
              </a:defRPr>
            </a:pPr>
            <a:r>
              <a:t>Shop Performance: What is happening to the business?</a:t>
            </a:r>
          </a:p>
          <a:p>
            <a:pPr>
              <a:defRPr sz="1800">
                <a:solidFill>
                  <a:srgbClr val="1C8284"/>
                </a:solidFill>
              </a:defRPr>
            </a:pPr>
            <a:r>
              <a:t>Executive analysis | January 2024 – June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43200"/>
            <a:ext cx="10789920" cy="2468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53F"/>
                </a:solidFill>
              </a:defRPr>
            </a:pPr>
            <a:r>
              <a:t>The story in three lines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Revenue was broadly stable across 2024 and 2025, but the first six months of 2026 are materially lower.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Electronics is the main revenue engine, while a small group of products carries a large share of sales.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8.0% of order records were cancelled or returned and 3.85% of payment attempts failed — areas for operational attention.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BrightLearn Shop Performance Case Study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3F"/>
                </a:solidFill>
              </a:defRPr>
            </a:pPr>
            <a:r>
              <a:t>1. Data quality — what we found before analysing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103120" cy="105156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8284"/>
                </a:solidFill>
              </a:defRPr>
            </a:pPr>
            <a:r>
              <a:t>Customers</a:t>
            </a:r>
          </a:p>
          <a:p>
            <a:pPr>
              <a:defRPr sz="2300" b="1">
                <a:solidFill>
                  <a:srgbClr val="13253F"/>
                </a:solidFill>
              </a:defRPr>
            </a:pPr>
            <a:r>
              <a:t>10,000</a:t>
            </a:r>
          </a:p>
          <a:p>
            <a:pPr>
              <a:defRPr sz="800">
                <a:solidFill>
                  <a:srgbClr val="232B32"/>
                </a:solidFill>
              </a:defRPr>
            </a:pPr>
            <a:r>
              <a:t>one row per 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234440"/>
            <a:ext cx="2103120" cy="105156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8284"/>
                </a:solidFill>
              </a:defRPr>
            </a:pPr>
            <a:r>
              <a:t>Orders supplied</a:t>
            </a:r>
          </a:p>
          <a:p>
            <a:pPr>
              <a:defRPr sz="2300" b="1">
                <a:solidFill>
                  <a:srgbClr val="13253F"/>
                </a:solidFill>
              </a:defRPr>
            </a:pPr>
            <a:r>
              <a:t>50,120</a:t>
            </a:r>
          </a:p>
          <a:p>
            <a:pPr>
              <a:defRPr sz="800">
                <a:solidFill>
                  <a:srgbClr val="232B32"/>
                </a:solidFill>
              </a:defRPr>
            </a:pPr>
            <a:r>
              <a:t>120 duplicate order 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234440"/>
            <a:ext cx="2103120" cy="105156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8284"/>
                </a:solidFill>
              </a:defRPr>
            </a:pPr>
            <a:r>
              <a:t>Products</a:t>
            </a:r>
          </a:p>
          <a:p>
            <a:pPr>
              <a:defRPr sz="2300" b="1">
                <a:solidFill>
                  <a:srgbClr val="13253F"/>
                </a:solidFill>
              </a:defRPr>
            </a:pPr>
            <a:r>
              <a:t>20</a:t>
            </a:r>
          </a:p>
          <a:p>
            <a:pPr>
              <a:defRPr sz="800">
                <a:solidFill>
                  <a:srgbClr val="232B32"/>
                </a:solidFill>
              </a:defRPr>
            </a:pPr>
            <a:r>
              <a:t>complete product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234440"/>
            <a:ext cx="2103120" cy="105156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8284"/>
                </a:solidFill>
              </a:defRPr>
            </a:pPr>
            <a:r>
              <a:t>Payment attempts</a:t>
            </a:r>
          </a:p>
          <a:p>
            <a:pPr>
              <a:defRPr sz="2300" b="1">
                <a:solidFill>
                  <a:srgbClr val="13253F"/>
                </a:solidFill>
              </a:defRPr>
            </a:pPr>
            <a:r>
              <a:t>50,000</a:t>
            </a:r>
          </a:p>
          <a:p>
            <a:pPr>
              <a:defRPr sz="800">
                <a:solidFill>
                  <a:srgbClr val="232B32"/>
                </a:solidFill>
              </a:defRPr>
            </a:pPr>
            <a:r>
              <a:t>one per order after dedupe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234440"/>
            <a:ext cx="2103120" cy="105156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8284"/>
                </a:solidFill>
              </a:defRPr>
            </a:pPr>
            <a:r>
              <a:t>Date range</a:t>
            </a:r>
          </a:p>
          <a:p>
            <a:pPr>
              <a:defRPr sz="2300" b="1">
                <a:solidFill>
                  <a:srgbClr val="13253F"/>
                </a:solidFill>
              </a:defRPr>
            </a:pPr>
            <a:r>
              <a:t>Jan 2024–Jun 2026</a:t>
            </a:r>
          </a:p>
          <a:p>
            <a:pPr>
              <a:defRPr sz="800">
                <a:solidFill>
                  <a:srgbClr val="232B32"/>
                </a:solidFill>
              </a:defRPr>
            </a:pPr>
            <a:r>
              <a:t>matches case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5394960" cy="324612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53F"/>
                </a:solidFill>
              </a:defRPr>
            </a:pPr>
            <a:r>
              <a:t>Cleaning decisions used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Removed duplicate OrderID records, keeping one record per order.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Standardised city names (for example, Mashad → Mashhad; Tehran/tehran).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Calculated revenue as Quantity × UnitPrice × (1 − Discount).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Counted business revenue only where the order was Completed and the payment was Paid.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Excluded rows with missing order dates and non-positive quantities from performance totals.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651760"/>
            <a:ext cx="5257800" cy="324612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53F"/>
                </a:solidFill>
              </a:defRPr>
            </a:pPr>
            <a:r>
              <a:t>Issues to disclose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35 orders have missing dates; 80 have missing quantity; 221 have missing discount; 452 have missing payment method.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30 orders reference a customer not found in the customer table.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19 completed-and-paid records contain negative quantities; these were treated as data-quality exceptions.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Because 2026 ends in June, comparisons with full-year 2024/2025 would be misleading; H1 comparisons are used.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BrightLearn Shop Performance Case Study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3F"/>
                </a:solidFill>
              </a:defRPr>
            </a:pPr>
            <a:r>
              <a:t>2. Overall performance — the key issue is the 2026 slowdown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28600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8284"/>
                </a:solidFill>
              </a:defRPr>
            </a:pPr>
            <a:r>
              <a:t>Valid revenue</a:t>
            </a:r>
          </a:p>
          <a:p>
            <a:pPr>
              <a:defRPr sz="2300" b="1">
                <a:solidFill>
                  <a:srgbClr val="13253F"/>
                </a:solidFill>
              </a:defRPr>
            </a:pPr>
            <a:r>
              <a:t>R2.99m</a:t>
            </a:r>
          </a:p>
          <a:p>
            <a:pPr>
              <a:defRPr sz="800">
                <a:solidFill>
                  <a:srgbClr val="232B32"/>
                </a:solidFill>
              </a:defRPr>
            </a:pPr>
            <a:r>
              <a:t>Completed + Paid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143000"/>
            <a:ext cx="228600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8284"/>
                </a:solidFill>
              </a:defRPr>
            </a:pPr>
            <a:r>
              <a:t>Valid orders</a:t>
            </a:r>
          </a:p>
          <a:p>
            <a:pPr>
              <a:defRPr sz="2300" b="1">
                <a:solidFill>
                  <a:srgbClr val="13253F"/>
                </a:solidFill>
              </a:defRPr>
            </a:pPr>
            <a:r>
              <a:t>42,721</a:t>
            </a:r>
          </a:p>
          <a:p>
            <a:pPr>
              <a:defRPr sz="800">
                <a:solidFill>
                  <a:srgbClr val="232B32"/>
                </a:solidFill>
              </a:defRPr>
            </a:pPr>
            <a:r>
              <a:t>after quality exclusions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143000"/>
            <a:ext cx="228600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8284"/>
                </a:solidFill>
              </a:defRPr>
            </a:pPr>
            <a:r>
              <a:t>Average order</a:t>
            </a:r>
          </a:p>
          <a:p>
            <a:pPr>
              <a:defRPr sz="2300" b="1">
                <a:solidFill>
                  <a:srgbClr val="13253F"/>
                </a:solidFill>
              </a:defRPr>
            </a:pPr>
            <a:r>
              <a:t>R69.99</a:t>
            </a:r>
          </a:p>
          <a:p>
            <a:pPr>
              <a:defRPr sz="800">
                <a:solidFill>
                  <a:srgbClr val="232B32"/>
                </a:solidFill>
              </a:defRPr>
            </a:pPr>
            <a:r>
              <a:t>revenue per valid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143000"/>
            <a:ext cx="228600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8284"/>
                </a:solidFill>
              </a:defRPr>
            </a:pPr>
            <a:r>
              <a:t>Units sold</a:t>
            </a:r>
          </a:p>
          <a:p>
            <a:pPr>
              <a:defRPr sz="2300" b="1">
                <a:solidFill>
                  <a:srgbClr val="13253F"/>
                </a:solidFill>
              </a:defRPr>
            </a:pPr>
            <a:r>
              <a:t>80,442</a:t>
            </a:r>
          </a:p>
          <a:p>
            <a:pPr>
              <a:defRPr sz="800">
                <a:solidFill>
                  <a:srgbClr val="232B32"/>
                </a:solidFill>
              </a:defRPr>
            </a:pPr>
            <a:r>
              <a:t>positive quantities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143000"/>
            <a:ext cx="137160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8284"/>
                </a:solidFill>
              </a:defRPr>
            </a:pPr>
            <a:r>
              <a:t>H1 2026</a:t>
            </a:r>
          </a:p>
          <a:p>
            <a:pPr>
              <a:defRPr sz="2300" b="1">
                <a:solidFill>
                  <a:srgbClr val="13253F"/>
                </a:solidFill>
              </a:defRPr>
            </a:pPr>
            <a:r>
              <a:t>R464k</a:t>
            </a:r>
          </a:p>
          <a:p>
            <a:pPr>
              <a:defRPr sz="800">
                <a:solidFill>
                  <a:srgbClr val="232B32"/>
                </a:solidFill>
              </a:defRPr>
            </a:pPr>
            <a:r>
              <a:t>-25.9% vs H1 2025</a:t>
            </a:r>
          </a:p>
        </p:txBody>
      </p:sp>
      <p:pic>
        <p:nvPicPr>
          <p:cNvPr id="10" name="Picture 9" descr="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14600"/>
            <a:ext cx="7315200" cy="319208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38160" y="2514600"/>
            <a:ext cx="3474720" cy="33832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53F"/>
                </a:solidFill>
              </a:defRPr>
            </a:pPr>
            <a:r>
              <a:t>So what?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H1 2024 revenue: R627.4k.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H1 2025 revenue: R626.4k — essentially flat.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H1 2026 revenue: R464.3k — 25.9% below H1 2025.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Average order value did not collapse, so the decline is more consistent with fewer sales/orders than much smaller baskets.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BrightLearn Shop Performance Case Study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3F"/>
                </a:solidFill>
              </a:defRPr>
            </a:pPr>
            <a:r>
              <a:t>3. What is selling? Revenue is concentrated in Electronics</a:t>
            </a:r>
          </a:p>
        </p:txBody>
      </p:sp>
      <p:pic>
        <p:nvPicPr>
          <p:cNvPr id="5" name="Picture 4" descr="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486400" cy="3048000"/>
          </a:xfrm>
          <a:prstGeom prst="rect">
            <a:avLst/>
          </a:prstGeom>
        </p:spPr>
      </p:pic>
      <p:pic>
        <p:nvPicPr>
          <p:cNvPr id="6" name="Picture 5" descr="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5486400" cy="3048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486400"/>
            <a:ext cx="10972800" cy="77724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53F"/>
                </a:solidFill>
              </a:defRPr>
            </a:pPr>
            <a:r>
              <a:t>Business meaning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Electronics generated R1.51m, or 50.6% of valid revenue. Headphones (R292k) and Office Chair (R288k) were the two largest individual products by revenue.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BrightLearn Shop Performance Case Study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3F"/>
                </a:solidFill>
              </a:defRPr>
            </a:pPr>
            <a:r>
              <a:t>4. Where is the value? Tehran leads; Regular customers drive the revenue pool</a:t>
            </a:r>
          </a:p>
        </p:txBody>
      </p:sp>
      <p:pic>
        <p:nvPicPr>
          <p:cNvPr id="5" name="Picture 4" descr="c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486400" cy="3048000"/>
          </a:xfrm>
          <a:prstGeom prst="rect">
            <a:avLst/>
          </a:prstGeom>
        </p:spPr>
      </p:pic>
      <p:pic>
        <p:nvPicPr>
          <p:cNvPr id="6" name="Picture 5" descr="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303520" cy="29832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486400"/>
            <a:ext cx="10972800" cy="77724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53F"/>
                </a:solidFill>
              </a:defRPr>
            </a:pPr>
            <a:r>
              <a:t>Business meaning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Tehran contributes R822.9k (27.5%) of valid revenue. Regular customers contribute R1.66m (55.5%), while VIP customers contribute R288.5k (9.7%).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BrightLearn Shop Performance Case Study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3F"/>
                </a:solidFill>
              </a:defRPr>
            </a:pPr>
            <a:r>
              <a:t>5. Where is revenue leaking? Cancellations, returns and failed payments</a:t>
            </a:r>
          </a:p>
        </p:txBody>
      </p:sp>
      <p:pic>
        <p:nvPicPr>
          <p:cNvPr id="5" name="Picture 4" descr="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394960" cy="3468189"/>
          </a:xfrm>
          <a:prstGeom prst="rect">
            <a:avLst/>
          </a:prstGeom>
        </p:spPr>
      </p:pic>
      <p:pic>
        <p:nvPicPr>
          <p:cNvPr id="6" name="Picture 5" descr="pay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394960" cy="30346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440680"/>
            <a:ext cx="10972800" cy="82296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53F"/>
                </a:solidFill>
              </a:defRPr>
            </a:pPr>
            <a:r>
              <a:t>So what?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4.94% of order records were cancelled and 3.06% returned — 8.0% combined. Payment failures were 3.85% overall, with little variation by payment method.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BrightLearn Shop Performance Case Study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3F"/>
                </a:solidFill>
              </a:defRPr>
            </a:pPr>
            <a:r>
              <a:t>6. Discounts — more discount does not mean a bigger basket</a:t>
            </a:r>
          </a:p>
        </p:txBody>
      </p:sp>
      <p:pic>
        <p:nvPicPr>
          <p:cNvPr id="5" name="Picture 4" descr="dis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325880"/>
            <a:ext cx="5029200" cy="42976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53F"/>
                </a:solidFill>
              </a:defRPr>
            </a:pPr>
            <a:r>
              <a:t>What the data says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Orders with no discount averaged R74.59.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Orders with 11–20% discount averaged R63.63.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Orders with 21–30% discount averaged R56.13.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Revenue per unit also fell as discount levels increased.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The relationship is descriptive, not proof that discounts caused lower order values; product mix and customer behaviour may also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BrightLearn Shop Performance Case Study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3F"/>
                </a:solidFill>
              </a:defRPr>
            </a:pPr>
            <a:r>
              <a:t>7. Three actions for the Head of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566160" cy="438912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53F"/>
                </a:solidFill>
              </a:defRPr>
            </a:pPr>
            <a:r>
              <a:t>1 | Recover the 2026 order gap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Track weekly orders by city, category and customer segment.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Investigate why H1 2026 has fewer valid orders than H1 2025.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Start with Tehran and Electronics because they represent the largest revenue pools.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566160" cy="438912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53F"/>
                </a:solidFill>
              </a:defRPr>
            </a:pPr>
            <a:r>
              <a:t>2 | Reduce avoidable leakage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Review the cancellation and return reasons behind the 8.0% rate.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Monitor failed payments by method and customer journey stage.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Set a simple monthly target for lower cancellations, returns and payment failures.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34440"/>
            <a:ext cx="3566160" cy="438912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53F"/>
                </a:solidFill>
              </a:defRPr>
            </a:pPr>
            <a:r>
              <a:t>3 | Make discounts earn their keep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Do not judge a promotion by order volume alone.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Measure revenue, average order value and revenue per unit by discount band.</a:t>
            </a:r>
          </a:p>
          <a:p>
            <a:pPr>
              <a:spcBef>
                <a:spcPts val="600"/>
              </a:spcBef>
              <a:defRPr sz="1100">
                <a:solidFill>
                  <a:srgbClr val="232B32"/>
                </a:solidFill>
              </a:defRPr>
            </a:pPr>
            <a:r>
              <a:t>Prioritise targeted offers around strong products instead of broad high discounts.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BrightLearn Shop Performance Case Study  |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